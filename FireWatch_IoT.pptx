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231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0505"/>
          </a:solidFill>
          <a:ln w="12700">
            <a:solidFill>
              <a:srgbClr val="1A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97880" y="0"/>
            <a:ext cx="45720" cy="5143500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486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🔥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2011680" cy="320040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FireWatch IoT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774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Multi-Node Fire &amp; Hazard Detection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Detect. Alert. Protect.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5760" y="3931920"/>
            <a:ext cx="100584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31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NODES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3931920"/>
            <a:ext cx="100584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931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3931920"/>
            <a:ext cx="100584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931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3931920"/>
            <a:ext cx="1005840" cy="292608"/>
          </a:xfrm>
          <a:prstGeom prst="rect">
            <a:avLst/>
          </a:prstGeom>
          <a:solidFill>
            <a:srgbClr val="1F293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931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IoT Project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FireWatch?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0" y="822960"/>
            <a:ext cx="228600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005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⚠️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protect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&amp; property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better way 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822960"/>
            <a:ext cx="6080760" cy="612648"/>
          </a:xfrm>
          <a:prstGeom prst="rect">
            <a:avLst/>
          </a:prstGeom>
          <a:solidFill>
            <a:srgbClr val="161B22"/>
          </a:solidFill>
          <a:ln w="1524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822960"/>
            <a:ext cx="54864" cy="61264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822960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8595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Single-Sensor &amp; Reactive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11155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detectors rely on one sensor — no correlation, no smart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536192"/>
            <a:ext cx="6080760" cy="612648"/>
          </a:xfrm>
          <a:prstGeom prst="rect">
            <a:avLst/>
          </a:prstGeom>
          <a:solidFill>
            <a:srgbClr val="161B22"/>
          </a:solidFill>
          <a:ln w="1524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536192"/>
            <a:ext cx="54864" cy="61264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536192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15727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Monitoring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18288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access from mobile or web — residents have no situational awareness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249424"/>
            <a:ext cx="6080760" cy="612648"/>
          </a:xfrm>
          <a:prstGeom prst="rect">
            <a:avLst/>
          </a:prstGeom>
          <a:solidFill>
            <a:srgbClr val="161B22"/>
          </a:solidFill>
          <a:ln w="1524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249424"/>
            <a:ext cx="54864" cy="61264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249424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4400" y="22860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Multi-Sensor Correlation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25420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alarm acts independently — false alarms are common, real ones missed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62656"/>
            <a:ext cx="6080760" cy="612648"/>
          </a:xfrm>
          <a:prstGeom prst="rect">
            <a:avLst/>
          </a:prstGeom>
          <a:solidFill>
            <a:srgbClr val="161B22"/>
          </a:solidFill>
          <a:ln w="1524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62656"/>
            <a:ext cx="54864" cy="61264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962656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4400" y="2999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Alerts Cost Lives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32552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notifications give residents less time to evacuate safely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75888"/>
            <a:ext cx="6080760" cy="612648"/>
          </a:xfrm>
          <a:prstGeom prst="rect">
            <a:avLst/>
          </a:prstGeom>
          <a:solidFill>
            <a:srgbClr val="0A2020"/>
          </a:solidFill>
          <a:ln w="1524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675888"/>
            <a:ext cx="54864" cy="6126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675888"/>
            <a:ext cx="457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4400" y="37124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Intelligent IoT Solution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396849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multi-point, real-time detection with automated alerting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FireWatch IoT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FireWatch IoT is a distributed IoT system that uses multiple sensor nodes,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over MQTT, and delivers real-time alerts to protect lives.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278892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08760"/>
            <a:ext cx="2788920" cy="54864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618488"/>
            <a:ext cx="365760" cy="2560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18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3 Sensor Nodes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19842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Gas, Temperature, and Motion nodes for complete environmental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508760"/>
            <a:ext cx="278892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508760"/>
            <a:ext cx="278892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1618488"/>
            <a:ext cx="36576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1618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MQTT over Wi-Fi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0128" y="19842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pub-sub protocol on broker.hivemq.com for real-time comms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278892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508760"/>
            <a:ext cx="27889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1618488"/>
            <a:ext cx="365760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16184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36208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Web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9842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HTML/JS dashboard with live gauges, event logs, CSV export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278892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00400"/>
            <a:ext cx="278892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3310128"/>
            <a:ext cx="365760" cy="2560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310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Telegram Alerts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" y="36758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bot messages to residents with sensor readings and location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3200400"/>
            <a:ext cx="278892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4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200400"/>
            <a:ext cx="2788920" cy="54864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3310128"/>
            <a:ext cx="365760" cy="256032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310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0128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Edge Computation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10128" y="36758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Auto-calibration, rate-of-change detection, local buzzer/LED actuation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3200400"/>
            <a:ext cx="278892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3200400"/>
            <a:ext cx="278892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3310128"/>
            <a:ext cx="365760" cy="2560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58200" y="3310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36208" y="3310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LWT &amp; Control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36208" y="36758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Will &amp; Testament for auto-offline status + dashboard control commands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Block 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" y="731520"/>
            <a:ext cx="2743200" cy="256032"/>
          </a:xfrm>
          <a:prstGeom prst="rect">
            <a:avLst/>
          </a:prstGeom>
          <a:solidFill>
            <a:srgbClr val="FF3A3A">
              <a:alpha val="13000"/>
            </a:srgbClr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731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731520"/>
            <a:ext cx="2743200" cy="256032"/>
          </a:xfrm>
          <a:prstGeom prst="rect">
            <a:avLst/>
          </a:prstGeom>
          <a:solidFill>
            <a:srgbClr val="00E5FF">
              <a:alpha val="13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731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 LAYER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731520"/>
            <a:ext cx="2743200" cy="256032"/>
          </a:xfrm>
          <a:prstGeom prst="rect">
            <a:avLst/>
          </a:prstGeom>
          <a:solidFill>
            <a:srgbClr val="00E676">
              <a:alpha val="13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731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LAYER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1097280"/>
            <a:ext cx="27432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137160" y="1097280"/>
            <a:ext cx="54864" cy="777240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170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Detection Node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" y="1499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+ MQ-6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" y="2148840"/>
            <a:ext cx="27432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" y="2148840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Node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" y="2551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ESP8266 + DHT11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" y="3200400"/>
            <a:ext cx="27432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4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" y="3200400"/>
            <a:ext cx="54864" cy="77724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273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 Node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Pico W + PIR HC-SR501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1485900"/>
            <a:ext cx="320040" cy="4572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2926080" y="2359152"/>
            <a:ext cx="402336" cy="178308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2926079" y="2606040"/>
            <a:ext cx="1645919" cy="982980"/>
          </a:xfrm>
          <a:prstGeom prst="line">
            <a:avLst/>
          </a:prstGeom>
          <a:noFill/>
          <a:ln w="19050">
            <a:solidFill>
              <a:srgbClr val="00E5FF"/>
            </a:solidFill>
            <a:prstDash val="dash"/>
            <a:tail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2880360" y="1920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Wi-Fi / MQTT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1371600"/>
            <a:ext cx="2743200" cy="1097280"/>
          </a:xfrm>
          <a:prstGeom prst="rect">
            <a:avLst/>
          </a:prstGeom>
          <a:solidFill>
            <a:srgbClr val="0A1A2A"/>
          </a:solidFill>
          <a:ln w="254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1371600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 Broker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2011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fw2352/gas · fw2352/temp · fw2352/motion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1920240"/>
            <a:ext cx="411480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989320" y="16642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46520" y="1097280"/>
            <a:ext cx="25603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46520" y="1097280"/>
            <a:ext cx="54864" cy="7772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1170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FireWatch Dashboard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56248" y="14996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/ JS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46520" y="2148840"/>
            <a:ext cx="25603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46520" y="2148840"/>
            <a:ext cx="54864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56248" y="2221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Telegram Bot API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56248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Alert 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3200400"/>
            <a:ext cx="256032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46520" y="3200400"/>
            <a:ext cx="54864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56248" y="3273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Operator / Residents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56248" y="3602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Notified &amp; Protected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26680" y="1874520"/>
            <a:ext cx="0" cy="27432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726680" y="2926080"/>
            <a:ext cx="0" cy="27432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40080" y="4251960"/>
            <a:ext cx="6080760" cy="0"/>
          </a:xfrm>
          <a:prstGeom prst="line">
            <a:avLst/>
          </a:prstGeom>
          <a:noFill/>
          <a:ln w="19050">
            <a:solidFill>
              <a:srgbClr val="FF3A3A"/>
            </a:solidFill>
            <a:prstDash val="dash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560320" y="4114800"/>
            <a:ext cx="256032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 Control: Reset / Arm-Disarm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Components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256400"/>
              </p:ext>
            </p:extLst>
          </p:nvPr>
        </p:nvGraphicFramePr>
        <p:xfrm>
          <a:off x="365760" y="868680"/>
          <a:ext cx="8412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Node</a:t>
                      </a:r>
                      <a:endParaRPr lang="en-US" sz="13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Hardware</a:t>
                      </a:r>
                      <a:endParaRPr lang="en-US" sz="13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Sensor</a:t>
                      </a:r>
                      <a:endParaRPr lang="en-US" sz="13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3A3A"/>
                          </a:solidFill>
                        </a:rPr>
                        <a:t>🔴  Gas Node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</a:rPr>
                        <a:t>ESP32 Dev Module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MQ-6 (Analog ADC)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</a:rPr>
                        <a:t>🟠  Temp Node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</a:rPr>
                        <a:t>NodeMCU ESP8266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DHT11 (Temp + Humidity)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D740"/>
                          </a:solidFill>
                        </a:rPr>
                        <a:t>🟡  Motion Node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AF0"/>
                          </a:solidFill>
                        </a:rPr>
                        <a:t>Raspberry Pi Pico W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PIR HC-SR501</a:t>
                      </a:r>
                      <a:endParaRPr lang="en-US" sz="12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3375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Components (All Nodes)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3703320"/>
            <a:ext cx="26517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Wi-Fi 2.4 GHz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3703320"/>
            <a:ext cx="26517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0128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MQTT Protocol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3703320"/>
            <a:ext cx="26517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44768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5V Power Supply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4361688"/>
            <a:ext cx="26517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" y="4361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Active Buzzer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00400" y="4361688"/>
            <a:ext cx="26517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10128" y="4361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Status LEDs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4361688"/>
            <a:ext cx="265176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4361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 MQTT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IoT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2286000"/>
            <a:ext cx="457200" cy="0"/>
          </a:xfrm>
          <a:prstGeom prst="line">
            <a:avLst/>
          </a:prstGeom>
          <a:noFill/>
          <a:ln w="25400">
            <a:solidFill>
              <a:srgbClr val="8B9AB0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2286000"/>
            <a:ext cx="457200" cy="0"/>
          </a:xfrm>
          <a:prstGeom prst="line">
            <a:avLst/>
          </a:prstGeom>
          <a:noFill/>
          <a:ln w="25400">
            <a:solidFill>
              <a:srgbClr val="8B9AB0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" y="822960"/>
            <a:ext cx="2743200" cy="40233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822960"/>
            <a:ext cx="2743200" cy="6400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914400"/>
            <a:ext cx="384048" cy="320040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91440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8869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🔭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Layer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8328" y="1737360"/>
            <a:ext cx="2514600" cy="27432"/>
          </a:xfrm>
          <a:prstGeom prst="rect">
            <a:avLst/>
          </a:prstGeom>
          <a:solidFill>
            <a:srgbClr val="FF3A3A">
              <a:alpha val="27000"/>
            </a:srgbClr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MQ-2 Gas Sensor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+ DHT11 Temp/Humidity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W + PIR Motion Sensor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2560320" cy="658368"/>
          </a:xfrm>
          <a:prstGeom prst="rect">
            <a:avLst/>
          </a:prstGeom>
          <a:solidFill>
            <a:srgbClr val="FF3A3A">
              <a:alpha val="8000"/>
            </a:srgbClr>
          </a:solidFill>
          <a:ln w="12700">
            <a:solidFill>
              <a:srgbClr val="FF3A3A">
                <a:alpha val="33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sensor nodes collect real-world environmental data at the 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822960"/>
            <a:ext cx="2743200" cy="402336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822960"/>
            <a:ext cx="27432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914400"/>
            <a:ext cx="384048" cy="3200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91440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8869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64408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64408" y="1737360"/>
            <a:ext cx="2514600" cy="27432"/>
          </a:xfrm>
          <a:prstGeom prst="rect">
            <a:avLst/>
          </a:prstGeom>
          <a:solidFill>
            <a:srgbClr val="00E5FF">
              <a:alpha val="27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2.4 GHz connectivity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64408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(HiveMQ public)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6440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for dashboard bridge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46120" y="4069080"/>
            <a:ext cx="2560320" cy="658368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>
                <a:alpha val="33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MQTT protocol relays sensor data in real-time to subscribers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822960"/>
            <a:ext cx="2743200" cy="402336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822960"/>
            <a:ext cx="27432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914400"/>
            <a:ext cx="384048" cy="32004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91440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88696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📲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190488" y="13533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190488" y="1737360"/>
            <a:ext cx="2514600" cy="27432"/>
          </a:xfrm>
          <a:prstGeom prst="rect">
            <a:avLst/>
          </a:prstGeom>
          <a:solidFill>
            <a:srgbClr val="00E676">
              <a:alpha val="27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0488" y="1828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FireWatch Web Dashboard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90488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notifications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90488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response &amp; control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4069080"/>
            <a:ext cx="2560320" cy="658368"/>
          </a:xfrm>
          <a:prstGeom prst="rect">
            <a:avLst/>
          </a:prstGeom>
          <a:solidFill>
            <a:srgbClr val="00E676">
              <a:alpha val="8000"/>
            </a:srgbClr>
          </a:solidFill>
          <a:ln w="12700">
            <a:solidFill>
              <a:srgbClr val="00E676">
                <a:alpha val="33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visualizes live data; Telegram alerts notify residents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Computing at the Node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Processing Locally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34" y="4974336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8595360" cy="566928"/>
          </a:xfrm>
          <a:prstGeom prst="rect">
            <a:avLst/>
          </a:prstGeom>
          <a:solidFill>
            <a:srgbClr val="0A203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0467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Edge Computing: Processing data locally on the device — not in the cloud. Enables faster response, lower latency, and offline operation.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2834640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08760"/>
            <a:ext cx="2834640" cy="6400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 — Gas Node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20574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auto-calibration at boot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587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Rate-of-change detection (spike = emergency)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311810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Delta-based conditional publish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64845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unnecessary MQTT traffic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508760"/>
            <a:ext cx="2834640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508760"/>
            <a:ext cx="28346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ESP8266 — Temp Node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55848" y="20574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index computation (temp + humidity)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587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 for critical temps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11810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health monitoring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364845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status reporting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508760"/>
            <a:ext cx="2834640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4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508760"/>
            <a:ext cx="2834640" cy="6400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1600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Pico W — Motion Node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20574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frequency analysis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2587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Events-per-minute tracking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311810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/ Disarm via MQTT control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364845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pattern detection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846320"/>
            <a:ext cx="8595360" cy="0"/>
          </a:xfrm>
          <a:prstGeom prst="rect">
            <a:avLst/>
          </a:prstGeom>
          <a:solidFill>
            <a:srgbClr val="1F2937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82099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All Nodes: Local buzzer &amp; LED actuation — works even without internet connectivity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FireWatch Web Interface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5029200" cy="4069080"/>
          </a:xfrm>
          <a:prstGeom prst="rect">
            <a:avLst/>
          </a:prstGeom>
          <a:solidFill>
            <a:srgbClr val="050A10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04672"/>
            <a:ext cx="50292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822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🔥 FireWatch IoT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261872"/>
            <a:ext cx="137160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342 ppm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0" y="1261872"/>
            <a:ext cx="137160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38.2°C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10128" y="1261872"/>
            <a:ext cx="137160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7472" y="2267712"/>
            <a:ext cx="4754880" cy="347472"/>
          </a:xfrm>
          <a:prstGeom prst="rect">
            <a:avLst/>
          </a:prstGeom>
          <a:solidFill>
            <a:srgbClr val="3A0808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860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 ALERT: Gas Leak Detected — Node 1 (ESP32)  [Acknowledge]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724912"/>
            <a:ext cx="47548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752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Log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0175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14:22:01  GAS node online — 342 ppm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27355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14:21:55  Motion detected — Pico 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52958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14:21:40  TEMP 38.2°C — ESP8266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" y="3977640"/>
            <a:ext cx="4754880" cy="292608"/>
          </a:xfrm>
          <a:prstGeom prst="rect">
            <a:avLst/>
          </a:prstGeom>
          <a:solidFill>
            <a:srgbClr val="080A1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Node 1 ONLINE   ● Node 2 ONLINE   ● Node 3 ONLINE   [Export CSV]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40680" y="822960"/>
            <a:ext cx="3429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822960"/>
            <a:ext cx="45720" cy="56692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8686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Sensor Gauges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59552" y="11155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 gauges for gas, temp, motion with real-time updates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0680" y="1481328"/>
            <a:ext cx="3429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40680" y="1481328"/>
            <a:ext cx="45720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9552" y="15270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Alert Banners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59552" y="17739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Auto-display on threshold breach with Acknowledge button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40680" y="2139696"/>
            <a:ext cx="3429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680" y="2139696"/>
            <a:ext cx="45720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21854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Broadcast Alerts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59552" y="243230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to residents with custom messages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40680" y="2798064"/>
            <a:ext cx="3429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0680" y="2798064"/>
            <a:ext cx="45720" cy="5669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9552" y="28437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Event Log + CSV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59552" y="30906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 log with CSV export for offline 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0680" y="3456432"/>
            <a:ext cx="3429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0680" y="3456432"/>
            <a:ext cx="45720" cy="56692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59552" y="35021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Node Status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59552" y="374904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 status per node using MQTT LWT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40680" y="4114800"/>
            <a:ext cx="342900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0680" y="4114800"/>
            <a:ext cx="45720" cy="56692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4160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Demo Mode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59552" y="440740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sensor events for testing &amp;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 Communication Protocol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0A1A2A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046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MQTT: Lightweight publish-subscribe messaging protocol for IoT — broker.hivemq.com  |  QoS Level 1 (at least once delivery)  |  LWT: Auto-offline on disconnect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2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2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Publisher</a:t>
                      </a:r>
                      <a:endParaRPr lang="en-US" sz="12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fw2352/gas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↑ Publish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3A3A"/>
                          </a:solidFill>
                        </a:rPr>
                        <a:t>ESP32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Gas sensor readings + alert status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fw2352/temp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↑ Publish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</a:rPr>
                        <a:t>ESP8266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Temperature, humidity, heat index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7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fw2352/motion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↑ Publish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D740"/>
                          </a:solidFill>
                        </a:rPr>
                        <a:t>Pico W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Motion events, frequency per minute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67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fw2352/status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↑↓ Both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E676"/>
                          </a:solidFill>
                        </a:rPr>
                        <a:t>All Nodes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Online / Offline status (via LWT)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fw2352/control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↓ Subscribe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</a:rPr>
                        <a:t>Dashboard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Send reset / calibrate commands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fw2352/cmd/motion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↓ Subscribe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E5FF"/>
                          </a:solidFill>
                        </a:rPr>
                        <a:t>Dashboard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F0"/>
                          </a:solidFill>
                        </a:rPr>
                        <a:t>Arm / Disarm motion node</a:t>
                      </a:r>
                      <a:endParaRPr lang="en-US" sz="1100" dirty="0"/>
                    </a:p>
                  </a:txBody>
                  <a:tcPr marL="76200" marR="76200" marT="76200" marB="76200">
                    <a:lnL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C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Notification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822960"/>
            <a:ext cx="2834640" cy="3017520"/>
          </a:xfrm>
          <a:prstGeom prst="rect">
            <a:avLst/>
          </a:prstGeom>
          <a:solidFill>
            <a:srgbClr val="161B22"/>
          </a:solidFill>
          <a:ln w="2540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22960"/>
            <a:ext cx="2834640" cy="6400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914400"/>
            <a:ext cx="777240" cy="274320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8869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Alerts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" y="1719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on device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21579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indicator (Red/Green)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25968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no internet required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" y="3035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per node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822960"/>
            <a:ext cx="2834640" cy="30175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822960"/>
            <a:ext cx="283464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914400"/>
            <a:ext cx="777240" cy="2743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8869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6440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Alerts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64408" y="1719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banner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64408" y="21579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broadcast message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64408" y="25968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button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64408" y="3035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 log entry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822960"/>
            <a:ext cx="2834640" cy="301752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822960"/>
            <a:ext cx="283464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914400"/>
            <a:ext cx="777240" cy="2743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09560" y="8869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90488" y="12801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Alerts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190488" y="17190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message to residents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0488" y="21579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included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0488" y="25968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timestamp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90488" y="303580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second delivery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08960" y="2304288"/>
            <a:ext cx="384048" cy="0"/>
          </a:xfrm>
          <a:prstGeom prst="line">
            <a:avLst/>
          </a:prstGeom>
          <a:noFill/>
          <a:ln w="25400">
            <a:solidFill>
              <a:srgbClr val="8B9AB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35040" y="2304288"/>
            <a:ext cx="384048" cy="0"/>
          </a:xfrm>
          <a:prstGeom prst="line">
            <a:avLst/>
          </a:prstGeom>
          <a:noFill/>
          <a:ln w="25400">
            <a:solidFill>
              <a:srgbClr val="8B9AB0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22860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Types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28600" y="434340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343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Gas Leak Warning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23160" y="434340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14600" y="4343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 / Critical Temp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17720" y="434340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343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Motion Detected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4343400"/>
            <a:ext cx="205740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4343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Multiple Hazards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&amp;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2011680" cy="150876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804672"/>
            <a:ext cx="201168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961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~200ms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50592" y="804672"/>
            <a:ext cx="2011680" cy="1508760"/>
          </a:xfrm>
          <a:prstGeom prst="rect">
            <a:avLst/>
          </a:prstGeom>
          <a:solidFill>
            <a:srgbClr val="161B22"/>
          </a:solidFill>
          <a:ln w="254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804672"/>
            <a:ext cx="201168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8961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450592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Alert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50592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Notification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26864" y="804672"/>
            <a:ext cx="2011680" cy="15087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804672"/>
            <a:ext cx="2011680" cy="6400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8961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26864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6864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Monitoring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804672"/>
            <a:ext cx="2011680" cy="1508760"/>
          </a:xfrm>
          <a:prstGeom prst="rect">
            <a:avLst/>
          </a:prstGeom>
          <a:solidFill>
            <a:srgbClr val="161B22"/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804672"/>
            <a:ext cx="20116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8961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03136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Success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03136" y="1847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passed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Scenarios — Verified 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2743200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2743200"/>
            <a:ext cx="685800" cy="566928"/>
          </a:xfrm>
          <a:prstGeom prst="rect">
            <a:avLst/>
          </a:prstGeom>
          <a:solidFill>
            <a:srgbClr val="082A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27432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27797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Simulation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0358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MQ-2 triggered within 5s, Telegram alert sent in 1.8s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743200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2743200"/>
            <a:ext cx="685800" cy="566928"/>
          </a:xfrm>
          <a:prstGeom prst="rect">
            <a:avLst/>
          </a:prstGeom>
          <a:solidFill>
            <a:srgbClr val="082A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27432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27797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Event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00600" y="30358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 detected 38°C+ heat index, dashboard banner activated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401568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3401568"/>
            <a:ext cx="685800" cy="566928"/>
          </a:xfrm>
          <a:prstGeom prst="rect">
            <a:avLst/>
          </a:prstGeom>
          <a:solidFill>
            <a:srgbClr val="082A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0" y="34015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34381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3694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HC-SR501 detected motion, broadcast alert to residents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401568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75320" y="3401568"/>
            <a:ext cx="685800" cy="566928"/>
          </a:xfrm>
          <a:prstGeom prst="rect">
            <a:avLst/>
          </a:prstGeom>
          <a:solidFill>
            <a:srgbClr val="082A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34015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00600" y="34381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Offline (LWT)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3694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Auto-status update to dashboard within 2 MQTT keep-alive cycles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059936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0" y="4059936"/>
            <a:ext cx="685800" cy="566928"/>
          </a:xfrm>
          <a:prstGeom prst="rect">
            <a:avLst/>
          </a:prstGeom>
          <a:solidFill>
            <a:srgbClr val="082A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0" y="405993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0965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Auto-Calibration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4352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baseline eliminates false positives in ambient conditions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09160" y="4059936"/>
            <a:ext cx="42519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75320" y="4059936"/>
            <a:ext cx="685800" cy="566928"/>
          </a:xfrm>
          <a:prstGeom prst="rect">
            <a:avLst/>
          </a:prstGeom>
          <a:solidFill>
            <a:srgbClr val="082A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405993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40965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Multi-Hazard Correlation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00600" y="43525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Temp simultaneous trigger — combined alert issued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283464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FF3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04672"/>
            <a:ext cx="2834640" cy="64008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914400"/>
            <a:ext cx="658368" cy="256032"/>
          </a:xfrm>
          <a:prstGeom prst="rect">
            <a:avLst/>
          </a:prstGeom>
          <a:solidFill>
            <a:srgbClr val="FF3A3A">
              <a:alpha val="19000"/>
            </a:srgbClr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9144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Flame Sensor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IR-based instant flame detection for faster response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804672"/>
            <a:ext cx="283464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804672"/>
            <a:ext cx="28346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914400"/>
            <a:ext cx="658368" cy="256032"/>
          </a:xfrm>
          <a:prstGeom prst="rect">
            <a:avLst/>
          </a:prstGeom>
          <a:solidFill>
            <a:srgbClr val="FF6B35">
              <a:alpha val="19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9144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CO Sensor (MQ-7)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64408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monoxide detection for complete gas coverage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804672"/>
            <a:ext cx="283464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804672"/>
            <a:ext cx="283464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65592" y="914400"/>
            <a:ext cx="658368" cy="256032"/>
          </a:xfrm>
          <a:prstGeom prst="rect">
            <a:avLst/>
          </a:prstGeom>
          <a:solidFill>
            <a:srgbClr val="00E5FF">
              <a:alpha val="19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5592" y="9144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90488" y="896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Firebase / InfluxDB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90488" y="12984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storage and time-series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2331720"/>
            <a:ext cx="283464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331720"/>
            <a:ext cx="283464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13432" y="2441448"/>
            <a:ext cx="658368" cy="256032"/>
          </a:xfrm>
          <a:prstGeom prst="rect">
            <a:avLst/>
          </a:prstGeom>
          <a:solidFill>
            <a:srgbClr val="00E5FF">
              <a:alpha val="19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3432" y="2441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OTA Firmware Updates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" y="2825496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updates to all nodes without physical access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54680" y="2331720"/>
            <a:ext cx="283464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331720"/>
            <a:ext cx="283464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9512" y="2441448"/>
            <a:ext cx="658368" cy="256032"/>
          </a:xfrm>
          <a:prstGeom prst="rect">
            <a:avLst/>
          </a:prstGeom>
          <a:solidFill>
            <a:srgbClr val="00E676">
              <a:alpha val="19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9512" y="2441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64408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Grafana Dashboard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264408" y="2825496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visualization and time-series charting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2331720"/>
            <a:ext cx="283464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80760" y="2331720"/>
            <a:ext cx="283464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65592" y="2441448"/>
            <a:ext cx="658368" cy="256032"/>
          </a:xfrm>
          <a:prstGeom prst="rect">
            <a:avLst/>
          </a:prstGeom>
          <a:solidFill>
            <a:srgbClr val="00E676">
              <a:alpha val="19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65592" y="24414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90488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Anomaly Detection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190488" y="2825496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on-device learning for pattern detection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3858768"/>
            <a:ext cx="868680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FFD74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3858768"/>
            <a:ext cx="8686800" cy="6400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65592" y="3968496"/>
            <a:ext cx="658368" cy="256032"/>
          </a:xfrm>
          <a:prstGeom prst="rect">
            <a:avLst/>
          </a:prstGeom>
          <a:solidFill>
            <a:srgbClr val="FFD740">
              <a:alpha val="19000"/>
            </a:srgbClr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65592" y="39684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" y="39502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Mobile App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38328" y="4352544"/>
            <a:ext cx="8458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iOS/Android with push notifications and controls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D12"/>
          </a:solidFill>
          <a:ln w="12700">
            <a:solidFill>
              <a:srgbClr val="080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828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🔥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97280" y="1783080"/>
            <a:ext cx="69494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83080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FireWatch IoT successfully demonstrates a scalable multi-node IoT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350008"/>
            <a:ext cx="69494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350008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 Edge computing reduces latency and cloud dependency for faster local response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916936"/>
            <a:ext cx="69494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16936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 MQTT enables lightweight, real-time communication across all nodes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483864"/>
            <a:ext cx="69494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483864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 Integrated 3-tier alerting ensures residents are notified instantly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4050792"/>
            <a:ext cx="694944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050792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 Modular architecture allows seamless expansion with new sensor nodes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Detect. Alert. Protect. 🔥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27432"/>
          </a:xfrm>
          <a:prstGeom prst="rect">
            <a:avLst/>
          </a:prstGeom>
          <a:solidFill>
            <a:srgbClr val="FF3A3A"/>
          </a:solidFill>
          <a:ln w="12700">
            <a:solidFill>
              <a:srgbClr val="FF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Libraries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7433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FireWatch IoT — Real-Time Fire &amp; Hazard Detection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9743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868680"/>
            <a:ext cx="54864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024128"/>
            <a:ext cx="411480" cy="256032"/>
          </a:xfrm>
          <a:prstGeom prst="rect">
            <a:avLst/>
          </a:prstGeom>
          <a:solidFill>
            <a:srgbClr val="00E5FF">
              <a:alpha val="13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02412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90525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 Specification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170432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mqtt.org  —  Official specification for MQTT v3.1.1 and v5.0 messaging protocol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27048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527048"/>
            <a:ext cx="54864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682496"/>
            <a:ext cx="411480" cy="256032"/>
          </a:xfrm>
          <a:prstGeom prst="rect">
            <a:avLst/>
          </a:prstGeom>
          <a:solidFill>
            <a:srgbClr val="00E5FF">
              <a:alpha val="13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6824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156362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Arduino 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1828800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github.com/espressif/arduino-esp32  —  Espressif's official Arduino support for ESP32 microcontrollers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85416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185416"/>
            <a:ext cx="54864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340864"/>
            <a:ext cx="411480" cy="256032"/>
          </a:xfrm>
          <a:prstGeom prst="rect">
            <a:avLst/>
          </a:prstGeom>
          <a:solidFill>
            <a:srgbClr val="00E5FF">
              <a:alpha val="13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34086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222199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PubSubClient Library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2487168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github.com/knolleary/pubsubclient  —  MQTT client library for Arduino by Nick O'Leary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43784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843784"/>
            <a:ext cx="54864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2999232"/>
            <a:ext cx="411480" cy="256032"/>
          </a:xfrm>
          <a:prstGeom prst="rect">
            <a:avLst/>
          </a:prstGeom>
          <a:solidFill>
            <a:srgbClr val="00E5FF">
              <a:alpha val="13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999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288036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Public Broker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3145536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  —  Free public MQTT broker for testing and prototyping IoT projects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02152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502152"/>
            <a:ext cx="54864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657600"/>
            <a:ext cx="411480" cy="256032"/>
          </a:xfrm>
          <a:prstGeom prst="rect">
            <a:avLst/>
          </a:prstGeom>
          <a:solidFill>
            <a:srgbClr val="00E5FF">
              <a:alpha val="13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6576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353872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3803904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core.telegram.org/bots/api  —  Official API for creating automated Telegram bots with HTTP interface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160520"/>
            <a:ext cx="54864" cy="56692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4315968"/>
            <a:ext cx="411480" cy="256032"/>
          </a:xfrm>
          <a:prstGeom prst="rect">
            <a:avLst/>
          </a:prstGeom>
          <a:solidFill>
            <a:srgbClr val="00E5FF">
              <a:alpha val="13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3159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419709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 Sensor Library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4400" y="4462272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github.com/adafruit/DHT-sensor-library  —  Adafruit's DHT11/DHT22 sensor library for Arduino and ESP platforms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1512</Words>
  <Application>Microsoft Office PowerPoint</Application>
  <PresentationFormat>On-screen Show (16:9)</PresentationFormat>
  <Paragraphs>348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FireWatch IoT — Real-Time Fire &amp; Hazard Detection System</dc:title>
  <dc:subject>PptxGenJS Presentation</dc:subject>
  <dc:creator>PptxGenJS</dc:creator>
  <cp:lastModifiedBy>Sri Krishna</cp:lastModifiedBy>
  <cp:revision>3</cp:revision>
  <dcterms:created xsi:type="dcterms:W3CDTF">2026-03-04T05:56:46Z</dcterms:created>
  <dcterms:modified xsi:type="dcterms:W3CDTF">2026-03-04T07:39:24Z</dcterms:modified>
</cp:coreProperties>
</file>